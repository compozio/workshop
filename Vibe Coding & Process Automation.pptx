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DM Sans"/>
      <p:regular r:id="rId25"/>
      <p:bold r:id="rId26"/>
      <p:italic r:id="rId27"/>
      <p:boldItalic r:id="rId28"/>
    </p:embeddedFont>
    <p:embeddedFont>
      <p:font typeface="Space Grotesk"/>
      <p:regular r:id="rId29"/>
      <p:bold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hLIjw2MdgBww1INW+ekS5CdHDO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EB1FED-C7D3-4680-BB0E-261105F65844}">
  <a:tblStyle styleId="{42EB1FED-C7D3-4680-BB0E-261105F658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SpaceGrotes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SpaceGrotesk-bold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44c5ae02c80db5ba_0_5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h44c5ae02c80db5ba_0_5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h44c5ae02c80db5ba_0_5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1d927c362de6b8b2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h1d927c362de6b8b2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h1d927c362de6b8b2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44c5ae02c80db5ba_0_11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h44c5ae02c80db5ba_0_11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h44c5ae02c80db5ba_0_11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44c5ae02c80db5ba_0_7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h44c5ae02c80db5ba_0_7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h44c5ae02c80db5ba_0_7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44c5ae02c80db5ba_0_2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h44c5ae02c80db5ba_0_2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h44c5ae02c80db5ba_0_2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44c5ae02c80db5ba_0_14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h44c5ae02c80db5ba_0_14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h44c5ae02c80db5ba_0_14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44c5ae02c80db5ba_0_15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h44c5ae02c80db5ba_0_15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h44c5ae02c80db5ba_0_15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44c5ae02c80db5ba_0_19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h44c5ae02c80db5ba_0_19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h44c5ae02c80db5ba_0_19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269c6f86afb76f0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h269c6f86afb76f0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h269c6f86afb76f0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44c5ae02c80db5ba_0_21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h44c5ae02c80db5ba_0_21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h44c5ae02c80db5ba_0_21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44c5ae02c80db5ba_0_24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h44c5ae02c80db5ba_0_24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h44c5ae02c80db5ba_0_24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44c5ae02c80db5ba_0_30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h44c5ae02c80db5ba_0_30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h44c5ae02c80db5ba_0_30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44c5ae02c80db5ba_0_33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h44c5ae02c80db5ba_0_33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h44c5ae02c80db5ba_0_33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44c5ae02c80db5ba_0_34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h44c5ae02c80db5ba_0_34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h44c5ae02c80db5ba_0_34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6d560c50bcd47540_0_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h6d560c50bcd47540_0_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h6d560c50bcd47540_0_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5bb930e929dd4d0d_0_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h5bb930e929dd4d0d_0_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h5bb930e929dd4d0d_0_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44c5ae02c80db5ba_0_53"/>
          <p:cNvSpPr txBox="1"/>
          <p:nvPr>
            <p:ph type="title"/>
          </p:nvPr>
        </p:nvSpPr>
        <p:spPr>
          <a:xfrm>
            <a:off x="609600" y="872467"/>
            <a:ext cx="7924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2700"/>
              <a:buFont typeface="Space Grotesk"/>
              <a:buNone/>
              <a:defRPr sz="2700">
                <a:solidFill>
                  <a:srgbClr val="16202E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h44c5ae02c80db5ba_0_53"/>
          <p:cNvSpPr txBox="1"/>
          <p:nvPr>
            <p:ph idx="1" type="body"/>
          </p:nvPr>
        </p:nvSpPr>
        <p:spPr>
          <a:xfrm>
            <a:off x="609600" y="1478235"/>
            <a:ext cx="7924800" cy="30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6202E"/>
              </a:buClr>
              <a:buSzPts val="1200"/>
              <a:buNone/>
              <a:defRPr sz="1200">
                <a:solidFill>
                  <a:srgbClr val="16202E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7F2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hostile-noise.geolab.edu.ge/" TargetMode="External"/><Relationship Id="rId4" Type="http://schemas.openxmlformats.org/officeDocument/2006/relationships/hyperlink" Target="https://www.theartofusingai.com/" TargetMode="External"/><Relationship Id="rId5" Type="http://schemas.openxmlformats.org/officeDocument/2006/relationships/hyperlink" Target="https://labadzelana.github.io/multispecies-buildings/" TargetMode="External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i.studio/apps/cd6f8850-001d-4181-959f-7f50dfb81423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ntigravity.google/" TargetMode="External"/><Relationship Id="rId4" Type="http://schemas.openxmlformats.org/officeDocument/2006/relationships/hyperlink" Target="https://github.com/login" TargetMode="External"/><Relationship Id="rId5" Type="http://schemas.openxmlformats.org/officeDocument/2006/relationships/hyperlink" Target="https://gemini.google.com/app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document/d/1dMbyvakGN3g9ClewcdKqFKUlDcJQ2rRM1xUj4xKfqio/edit?usp=sharin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document/d/10AQ1HnZEYZjw8j9DSVAKnJGSQ7HH1b6UxaeK8-xETss/edit?usp=sharing" TargetMode="External"/><Relationship Id="rId4" Type="http://schemas.openxmlformats.org/officeDocument/2006/relationships/hyperlink" Target="https://labadzelana.github.io/Offer-template-generator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abadzelana.github.io/Offer-template-generator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hyperlink" Target="mailto:lana@geolab.edu.g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type="ctrTitle"/>
          </p:nvPr>
        </p:nvSpPr>
        <p:spPr>
          <a:xfrm>
            <a:off x="264900" y="307675"/>
            <a:ext cx="85206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200">
                <a:solidFill>
                  <a:srgbClr val="0C0C0C"/>
                </a:solidFill>
                <a:highlight>
                  <a:srgbClr val="F5F3EF"/>
                </a:highlight>
              </a:rPr>
              <a:t>the </a:t>
            </a:r>
            <a:r>
              <a:rPr b="1" lang="en" sz="3200">
                <a:solidFill>
                  <a:srgbClr val="E8190A"/>
                </a:solidFill>
                <a:highlight>
                  <a:srgbClr val="F5F3EF"/>
                </a:highlight>
              </a:rPr>
              <a:t>ART </a:t>
            </a:r>
            <a:r>
              <a:rPr b="1" lang="en" sz="3200">
                <a:solidFill>
                  <a:srgbClr val="0C0C0C"/>
                </a:solidFill>
                <a:highlight>
                  <a:srgbClr val="F5F3EF"/>
                </a:highlight>
              </a:rPr>
              <a:t>of using </a:t>
            </a:r>
            <a:r>
              <a:rPr b="1" lang="en" sz="3200">
                <a:solidFill>
                  <a:srgbClr val="E8190A"/>
                </a:solidFill>
                <a:highlight>
                  <a:srgbClr val="F5F3EF"/>
                </a:highlight>
              </a:rPr>
              <a:t>AI</a:t>
            </a:r>
            <a:endParaRPr/>
          </a:p>
        </p:txBody>
      </p:sp>
      <p:sp>
        <p:nvSpPr>
          <p:cNvPr id="58" name="Google Shape;58;p1"/>
          <p:cNvSpPr txBox="1"/>
          <p:nvPr>
            <p:ph idx="1" type="subTitle"/>
          </p:nvPr>
        </p:nvSpPr>
        <p:spPr>
          <a:xfrm>
            <a:off x="264900" y="1572180"/>
            <a:ext cx="8520600" cy="1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2112"/>
              <a:buFont typeface="Arial"/>
              <a:buNone/>
            </a:pPr>
            <a:r>
              <a:rPr b="1" lang="en" sz="27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"Vibe Coding" &amp; Process Automation</a:t>
            </a:r>
            <a:endParaRPr b="1" sz="2808">
              <a:solidFill>
                <a:srgbClr val="0C0C0C"/>
              </a:solidFill>
              <a:highlight>
                <a:srgbClr val="F5F3E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1"/>
              <a:buFont typeface="Arial"/>
              <a:buNone/>
            </a:pPr>
            <a:r>
              <a:t/>
            </a:r>
            <a:endParaRPr b="1" sz="27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2112"/>
              <a:buNone/>
            </a:pPr>
            <a:r>
              <a:rPr b="1" lang="en" sz="27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Lana Labadze</a:t>
            </a:r>
            <a:endParaRPr>
              <a:solidFill>
                <a:srgbClr val="6B728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" title="visual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2462" y="2767374"/>
            <a:ext cx="2845476" cy="237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44c5ae02c80db5ba_0_57"/>
          <p:cNvSpPr txBox="1"/>
          <p:nvPr>
            <p:ph type="title"/>
          </p:nvPr>
        </p:nvSpPr>
        <p:spPr>
          <a:xfrm>
            <a:off x="609600" y="872467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ct val="100000"/>
              <a:buFont typeface="Space Grotesk"/>
              <a:buNone/>
            </a:pPr>
            <a:r>
              <a:rPr b="1" lang="en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Session</a:t>
            </a:r>
            <a:r>
              <a:rPr b="1" lang="en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 plan</a:t>
            </a:r>
            <a:endParaRPr sz="2700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h44c5ae02c80db5ba_0_57"/>
          <p:cNvSpPr/>
          <p:nvPr/>
        </p:nvSpPr>
        <p:spPr>
          <a:xfrm>
            <a:off x="609600" y="1516335"/>
            <a:ext cx="3291900" cy="2865300"/>
          </a:xfrm>
          <a:prstGeom prst="roundRect">
            <a:avLst>
              <a:gd fmla="val 332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h44c5ae02c80db5ba_0_57"/>
          <p:cNvSpPr/>
          <p:nvPr/>
        </p:nvSpPr>
        <p:spPr>
          <a:xfrm>
            <a:off x="876300" y="1783035"/>
            <a:ext cx="2841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700"/>
              <a:buFont typeface="Space Grotesk"/>
              <a:buNone/>
            </a:pPr>
            <a:r>
              <a:rPr b="1" lang="en" sz="17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Part 1</a:t>
            </a:r>
            <a:endParaRPr i="0" sz="17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h44c5ae02c80db5ba_0_57"/>
          <p:cNvSpPr/>
          <p:nvPr/>
        </p:nvSpPr>
        <p:spPr>
          <a:xfrm>
            <a:off x="876300" y="2726081"/>
            <a:ext cx="2841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200"/>
              <a:buFont typeface="DM Sans"/>
              <a:buNone/>
            </a:pPr>
            <a:r>
              <a:rPr lang="en" sz="12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Presentation and introduction</a:t>
            </a:r>
            <a:endParaRPr i="0" sz="12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h44c5ae02c80db5ba_0_57"/>
          <p:cNvSpPr/>
          <p:nvPr/>
        </p:nvSpPr>
        <p:spPr>
          <a:xfrm>
            <a:off x="4132250" y="1518716"/>
            <a:ext cx="4399800" cy="2860500"/>
          </a:xfrm>
          <a:prstGeom prst="roundRect">
            <a:avLst>
              <a:gd fmla="val 3247" name="adj"/>
            </a:avLst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h44c5ae02c80db5ba_0_57"/>
          <p:cNvSpPr/>
          <p:nvPr/>
        </p:nvSpPr>
        <p:spPr>
          <a:xfrm>
            <a:off x="4401332" y="1787797"/>
            <a:ext cx="3977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Space Grotesk"/>
              <a:buNone/>
            </a:pPr>
            <a:r>
              <a:rPr b="1" lang="en" sz="17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Part 2 </a:t>
            </a:r>
            <a:endParaRPr i="0" sz="1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h44c5ae02c80db5ba_0_57"/>
          <p:cNvSpPr/>
          <p:nvPr/>
        </p:nvSpPr>
        <p:spPr>
          <a:xfrm>
            <a:off x="4449338" y="2726068"/>
            <a:ext cx="39237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Building mini app together with vibe coding</a:t>
            </a:r>
            <a:endParaRPr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1d927c362de6b8b2_0_0"/>
          <p:cNvSpPr/>
          <p:nvPr/>
        </p:nvSpPr>
        <p:spPr>
          <a:xfrm>
            <a:off x="609600" y="609600"/>
            <a:ext cx="8162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531F"/>
              </a:buClr>
              <a:buSzPts val="1100"/>
              <a:buFont typeface="DM Sans"/>
              <a:buNone/>
            </a:pPr>
            <a:r>
              <a:rPr lang="en" sz="1100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ABOUT ME AND AI</a:t>
            </a:r>
            <a:endParaRPr i="0" sz="1100" u="none" cap="none" strike="noStrike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h1d927c362de6b8b2_0_0"/>
          <p:cNvSpPr txBox="1"/>
          <p:nvPr>
            <p:ph type="title"/>
          </p:nvPr>
        </p:nvSpPr>
        <p:spPr>
          <a:xfrm>
            <a:off x="609600" y="872467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ct val="100000"/>
              <a:buFont typeface="Space Grotesk"/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You don’t need to be</a:t>
            </a:r>
            <a:r>
              <a:rPr b="1" i="0" lang="en" sz="27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 a developer or IT specialist</a:t>
            </a:r>
            <a:endParaRPr sz="2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h1d927c362de6b8b2_0_0"/>
          <p:cNvSpPr/>
          <p:nvPr/>
        </p:nvSpPr>
        <p:spPr>
          <a:xfrm>
            <a:off x="609600" y="1516335"/>
            <a:ext cx="3291900" cy="2865300"/>
          </a:xfrm>
          <a:prstGeom prst="roundRect">
            <a:avLst>
              <a:gd fmla="val 332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h1d927c362de6b8b2_0_0"/>
          <p:cNvSpPr/>
          <p:nvPr/>
        </p:nvSpPr>
        <p:spPr>
          <a:xfrm>
            <a:off x="876300" y="1783035"/>
            <a:ext cx="2841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700"/>
              <a:buFont typeface="Space Grotesk"/>
              <a:buNone/>
            </a:pPr>
            <a:r>
              <a:rPr b="1" i="0" lang="en" sz="17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My role</a:t>
            </a:r>
            <a:endParaRPr i="0" sz="17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h1d927c362de6b8b2_0_0"/>
          <p:cNvSpPr/>
          <p:nvPr/>
        </p:nvSpPr>
        <p:spPr>
          <a:xfrm>
            <a:off x="876300" y="2148781"/>
            <a:ext cx="2841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200"/>
              <a:buFont typeface="DM Sans"/>
              <a:buNone/>
            </a:pPr>
            <a:r>
              <a:rPr lang="en" sz="12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I am a</a:t>
            </a:r>
            <a:r>
              <a:rPr i="0" lang="en" sz="12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 manager, not an engineer. I don’t write code by hand.</a:t>
            </a:r>
            <a:endParaRPr i="0" sz="12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h1d927c362de6b8b2_0_0"/>
          <p:cNvSpPr/>
          <p:nvPr/>
        </p:nvSpPr>
        <p:spPr>
          <a:xfrm>
            <a:off x="4132250" y="1518716"/>
            <a:ext cx="4399800" cy="2860500"/>
          </a:xfrm>
          <a:prstGeom prst="roundRect">
            <a:avLst>
              <a:gd fmla="val 3247" name="adj"/>
            </a:avLst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h1d927c362de6b8b2_0_0"/>
          <p:cNvSpPr/>
          <p:nvPr/>
        </p:nvSpPr>
        <p:spPr>
          <a:xfrm>
            <a:off x="4401332" y="1787797"/>
            <a:ext cx="3977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Space Grotesk"/>
              <a:buNone/>
            </a:pPr>
            <a:r>
              <a:rPr b="1" i="0" lang="en" sz="17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What AI lets me do now</a:t>
            </a:r>
            <a:endParaRPr i="0" sz="1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h1d927c362de6b8b2_0_0"/>
          <p:cNvSpPr/>
          <p:nvPr/>
        </p:nvSpPr>
        <p:spPr>
          <a:xfrm>
            <a:off x="4449338" y="2153543"/>
            <a:ext cx="39237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200"/>
              <a:buFont typeface="Open Sans"/>
              <a:buChar char="•"/>
            </a:pPr>
            <a:r>
              <a:rPr i="0" lang="en" sz="12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Build internal tools without waiting for IT</a:t>
            </a:r>
            <a:endParaRPr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200"/>
              <a:buFont typeface="Open Sans"/>
              <a:buChar char="•"/>
            </a:pPr>
            <a:r>
              <a:rPr i="0" lang="en" sz="12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Turn an idea into a working prototype</a:t>
            </a:r>
            <a:endParaRPr sz="1200">
              <a:solidFill>
                <a:srgbClr val="3D475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200"/>
              <a:buFont typeface="Open Sans"/>
              <a:buChar char="•"/>
            </a:pPr>
            <a:r>
              <a:rPr i="0" lang="en" sz="12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Automate repetitive admin work</a:t>
            </a:r>
            <a:endParaRPr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970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200"/>
              <a:buFont typeface="Open Sans"/>
              <a:buChar char="•"/>
            </a:pPr>
            <a:r>
              <a:rPr i="0" lang="en" sz="12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Publish websites</a:t>
            </a:r>
            <a:endParaRPr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44c5ae02c80db5ba_0_117"/>
          <p:cNvSpPr/>
          <p:nvPr/>
        </p:nvSpPr>
        <p:spPr>
          <a:xfrm>
            <a:off x="609600" y="609600"/>
            <a:ext cx="8162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531F"/>
              </a:buClr>
              <a:buSzPts val="1100"/>
              <a:buFont typeface="DM Sans"/>
              <a:buNone/>
            </a:pPr>
            <a:r>
              <a:rPr lang="en" sz="1100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PERSONAL</a:t>
            </a:r>
            <a:r>
              <a:rPr i="0" lang="en" sz="11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 EXAMPLES</a:t>
            </a:r>
            <a:endParaRPr i="0" sz="1100" u="none" cap="none" strike="noStrike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h44c5ae02c80db5ba_0_117"/>
          <p:cNvSpPr txBox="1"/>
          <p:nvPr>
            <p:ph type="title"/>
          </p:nvPr>
        </p:nvSpPr>
        <p:spPr>
          <a:xfrm>
            <a:off x="609600" y="872467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ct val="100000"/>
              <a:buFont typeface="Space Grotesk"/>
              <a:buNone/>
            </a:pPr>
            <a:r>
              <a:rPr b="1" i="0" lang="en" sz="27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What I’ve built - Web pages</a:t>
            </a:r>
            <a:endParaRPr sz="2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h44c5ae02c80db5ba_0_117"/>
          <p:cNvSpPr/>
          <p:nvPr/>
        </p:nvSpPr>
        <p:spPr>
          <a:xfrm>
            <a:off x="611975" y="1480626"/>
            <a:ext cx="2535300" cy="2676300"/>
          </a:xfrm>
          <a:prstGeom prst="roundRect">
            <a:avLst>
              <a:gd fmla="val 3729" name="adj"/>
            </a:avLst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h44c5ae02c80db5ba_0_117"/>
          <p:cNvSpPr/>
          <p:nvPr/>
        </p:nvSpPr>
        <p:spPr>
          <a:xfrm>
            <a:off x="766763" y="3064148"/>
            <a:ext cx="2292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Hostile Noise</a:t>
            </a:r>
            <a:endParaRPr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h44c5ae02c80db5ba_0_117"/>
          <p:cNvSpPr/>
          <p:nvPr/>
        </p:nvSpPr>
        <p:spPr>
          <a:xfrm>
            <a:off x="766763" y="3387998"/>
            <a:ext cx="2292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000"/>
              <a:buFont typeface="DM Sans"/>
              <a:buNone/>
            </a:pPr>
            <a:r>
              <a:rPr lang="en" sz="1000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Web page for the festival</a:t>
            </a:r>
            <a:endParaRPr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h44c5ae02c80db5ba_0_117"/>
          <p:cNvSpPr/>
          <p:nvPr/>
        </p:nvSpPr>
        <p:spPr>
          <a:xfrm>
            <a:off x="766763" y="3656596"/>
            <a:ext cx="22926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531F"/>
              </a:buClr>
              <a:buSzPts val="900"/>
              <a:buFont typeface="DM Sans"/>
              <a:buNone/>
            </a:pPr>
            <a:r>
              <a:rPr lang="en" sz="9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https://hostile-noise.geolab.edu.ge/</a:t>
            </a:r>
            <a:r>
              <a:rPr lang="en" sz="900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0" sz="900" u="none" cap="none" strike="noStrike">
              <a:solidFill>
                <a:srgbClr val="1155C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h44c5ae02c80db5ba_0_117"/>
          <p:cNvSpPr/>
          <p:nvPr/>
        </p:nvSpPr>
        <p:spPr>
          <a:xfrm>
            <a:off x="3304355" y="1480626"/>
            <a:ext cx="2535300" cy="2676300"/>
          </a:xfrm>
          <a:prstGeom prst="roundRect">
            <a:avLst>
              <a:gd fmla="val 3729" name="adj"/>
            </a:avLst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 u="sng">
              <a:solidFill>
                <a:srgbClr val="1155CC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7" name="Google Shape;97;h44c5ae02c80db5ba_0_117"/>
          <p:cNvSpPr/>
          <p:nvPr/>
        </p:nvSpPr>
        <p:spPr>
          <a:xfrm>
            <a:off x="3459138" y="3064148"/>
            <a:ext cx="2292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Space Grotesk"/>
              <a:buNone/>
            </a:pPr>
            <a:r>
              <a:rPr b="1"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The Art of Using AI</a:t>
            </a:r>
            <a:endParaRPr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h44c5ae02c80db5ba_0_117"/>
          <p:cNvSpPr/>
          <p:nvPr/>
        </p:nvSpPr>
        <p:spPr>
          <a:xfrm>
            <a:off x="3459138" y="3387998"/>
            <a:ext cx="2292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000"/>
              <a:buFont typeface="DM Sans"/>
              <a:buNone/>
            </a:pPr>
            <a:r>
              <a:rPr lang="en" sz="1000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Web page for the program</a:t>
            </a:r>
            <a:endParaRPr sz="1000">
              <a:solidFill>
                <a:srgbClr val="3D475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h44c5ae02c80db5ba_0_117"/>
          <p:cNvSpPr/>
          <p:nvPr/>
        </p:nvSpPr>
        <p:spPr>
          <a:xfrm>
            <a:off x="3459138" y="3656596"/>
            <a:ext cx="22926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531F"/>
              </a:buClr>
              <a:buSzPts val="900"/>
              <a:buFont typeface="DM Sans"/>
              <a:buNone/>
            </a:pPr>
            <a:r>
              <a:rPr lang="en" sz="9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https://www.theartofusingai.com/</a:t>
            </a:r>
            <a:r>
              <a:rPr lang="en" sz="9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900" u="sng">
              <a:solidFill>
                <a:srgbClr val="1155C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h44c5ae02c80db5ba_0_117"/>
          <p:cNvSpPr/>
          <p:nvPr/>
        </p:nvSpPr>
        <p:spPr>
          <a:xfrm>
            <a:off x="5996771" y="1480626"/>
            <a:ext cx="2535300" cy="2676300"/>
          </a:xfrm>
          <a:prstGeom prst="roundRect">
            <a:avLst>
              <a:gd fmla="val 3729" name="adj"/>
            </a:avLst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h44c5ae02c80db5ba_0_117"/>
          <p:cNvSpPr/>
          <p:nvPr/>
        </p:nvSpPr>
        <p:spPr>
          <a:xfrm>
            <a:off x="6151550" y="3064148"/>
            <a:ext cx="2292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Space Grotesk"/>
              <a:buNone/>
            </a:pPr>
            <a:r>
              <a:rPr b="1"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Multispecies Buildings</a:t>
            </a:r>
            <a:endParaRPr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h44c5ae02c80db5ba_0_117"/>
          <p:cNvSpPr/>
          <p:nvPr/>
        </p:nvSpPr>
        <p:spPr>
          <a:xfrm>
            <a:off x="6151550" y="3387998"/>
            <a:ext cx="2292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000"/>
              <a:buFont typeface="DM Sans"/>
              <a:buNone/>
            </a:pPr>
            <a:r>
              <a:rPr lang="en" sz="1000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Web page for the research project</a:t>
            </a:r>
            <a:endParaRPr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h44c5ae02c80db5ba_0_117"/>
          <p:cNvSpPr/>
          <p:nvPr/>
        </p:nvSpPr>
        <p:spPr>
          <a:xfrm>
            <a:off x="6151550" y="3656596"/>
            <a:ext cx="22926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531F"/>
              </a:buClr>
              <a:buSzPts val="900"/>
              <a:buFont typeface="DM Sans"/>
              <a:buNone/>
            </a:pPr>
            <a:r>
              <a:rPr lang="en" sz="9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https://labadzelana.github.io/multispecies-buildings/</a:t>
            </a:r>
            <a:r>
              <a:rPr lang="en" sz="9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0" sz="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4" name="Google Shape;104;h44c5ae02c80db5ba_0_117" title="Screenshot 2026-10-15 at 2.32.4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4143" y="1696493"/>
            <a:ext cx="2254551" cy="1263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h44c5ae02c80db5ba_0_117" title="Screenshot 2026-10-15 at 2.36.47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88184" y="1696500"/>
            <a:ext cx="2167680" cy="1263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h44c5ae02c80db5ba_0_117" title="Screenshot 2026-10-15 at 2.38.30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65475" y="1696500"/>
            <a:ext cx="2197898" cy="133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44c5ae02c80db5ba_0_77"/>
          <p:cNvSpPr/>
          <p:nvPr/>
        </p:nvSpPr>
        <p:spPr>
          <a:xfrm>
            <a:off x="609600" y="609600"/>
            <a:ext cx="8162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531F"/>
              </a:buClr>
              <a:buSzPts val="1100"/>
              <a:buFont typeface="DM Sans"/>
              <a:buNone/>
            </a:pPr>
            <a:r>
              <a:rPr lang="en" sz="1100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PERSONAL</a:t>
            </a:r>
            <a:r>
              <a:rPr i="0" lang="en" sz="11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 EXAMPLES</a:t>
            </a:r>
            <a:endParaRPr i="0" sz="1100" u="none" cap="none" strike="noStrike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h44c5ae02c80db5ba_0_77"/>
          <p:cNvSpPr txBox="1"/>
          <p:nvPr>
            <p:ph type="title"/>
          </p:nvPr>
        </p:nvSpPr>
        <p:spPr>
          <a:xfrm>
            <a:off x="609600" y="872467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ct val="100000"/>
              <a:buFont typeface="Space Grotesk"/>
              <a:buNone/>
            </a:pPr>
            <a:r>
              <a:rPr b="1" i="0" lang="en" sz="27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What I’ve built - so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lutions/apps</a:t>
            </a:r>
            <a:endParaRPr sz="2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h44c5ae02c80db5ba_0_77"/>
          <p:cNvSpPr/>
          <p:nvPr/>
        </p:nvSpPr>
        <p:spPr>
          <a:xfrm>
            <a:off x="611975" y="1480626"/>
            <a:ext cx="2535300" cy="2676300"/>
          </a:xfrm>
          <a:prstGeom prst="roundRect">
            <a:avLst>
              <a:gd fmla="val 3729" name="adj"/>
            </a:avLst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h44c5ae02c80db5ba_0_77"/>
          <p:cNvSpPr/>
          <p:nvPr/>
        </p:nvSpPr>
        <p:spPr>
          <a:xfrm>
            <a:off x="766763" y="3064148"/>
            <a:ext cx="2292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Space Grotesk"/>
              <a:buNone/>
            </a:pPr>
            <a:r>
              <a:rPr b="1"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Spell checker</a:t>
            </a:r>
            <a:endParaRPr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h44c5ae02c80db5ba_0_77"/>
          <p:cNvSpPr/>
          <p:nvPr/>
        </p:nvSpPr>
        <p:spPr>
          <a:xfrm>
            <a:off x="766763" y="3387998"/>
            <a:ext cx="2292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000"/>
              <a:buFont typeface="DM Sans"/>
              <a:buNone/>
            </a:pPr>
            <a:r>
              <a:rPr lang="en" sz="1000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For Georgian Language</a:t>
            </a:r>
            <a:endParaRPr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h44c5ae02c80db5ba_0_77"/>
          <p:cNvSpPr/>
          <p:nvPr/>
        </p:nvSpPr>
        <p:spPr>
          <a:xfrm>
            <a:off x="766763" y="3656596"/>
            <a:ext cx="22926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9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https://ai.studio/apps/cd6f8850-001d-4181-959f-7f50dfb81423</a:t>
            </a:r>
            <a:r>
              <a:rPr lang="en" sz="9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900">
              <a:solidFill>
                <a:srgbClr val="1155C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h44c5ae02c80db5ba_0_77"/>
          <p:cNvSpPr/>
          <p:nvPr/>
        </p:nvSpPr>
        <p:spPr>
          <a:xfrm>
            <a:off x="3304355" y="1480626"/>
            <a:ext cx="2535300" cy="2676300"/>
          </a:xfrm>
          <a:prstGeom prst="roundRect">
            <a:avLst>
              <a:gd fmla="val 3729" name="adj"/>
            </a:avLst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531F"/>
              </a:buClr>
              <a:buSzPts val="900"/>
              <a:buFont typeface="DM Sans"/>
              <a:buNone/>
            </a:pPr>
            <a:r>
              <a:t/>
            </a:r>
            <a:endParaRPr sz="900" u="sng">
              <a:solidFill>
                <a:srgbClr val="1155CC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9" name="Google Shape;119;h44c5ae02c80db5ba_0_77"/>
          <p:cNvSpPr/>
          <p:nvPr/>
        </p:nvSpPr>
        <p:spPr>
          <a:xfrm>
            <a:off x="3459138" y="3064148"/>
            <a:ext cx="2292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Space Grotesk"/>
              <a:buNone/>
            </a:pPr>
            <a:r>
              <a:rPr b="1"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PDF file generator</a:t>
            </a:r>
            <a:endParaRPr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h44c5ae02c80db5ba_0_77"/>
          <p:cNvSpPr/>
          <p:nvPr/>
        </p:nvSpPr>
        <p:spPr>
          <a:xfrm>
            <a:off x="3459138" y="3387998"/>
            <a:ext cx="2292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000"/>
              <a:buFont typeface="DM Sans"/>
              <a:buNone/>
            </a:pPr>
            <a:r>
              <a:rPr lang="en" sz="1000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Program generates certificates</a:t>
            </a:r>
            <a:endParaRPr sz="1000">
              <a:solidFill>
                <a:srgbClr val="3D475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h44c5ae02c80db5ba_0_77"/>
          <p:cNvSpPr/>
          <p:nvPr/>
        </p:nvSpPr>
        <p:spPr>
          <a:xfrm>
            <a:off x="5996771" y="1480626"/>
            <a:ext cx="2535300" cy="2676300"/>
          </a:xfrm>
          <a:prstGeom prst="roundRect">
            <a:avLst>
              <a:gd fmla="val 3729" name="adj"/>
            </a:avLst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h44c5ae02c80db5ba_0_77"/>
          <p:cNvSpPr/>
          <p:nvPr/>
        </p:nvSpPr>
        <p:spPr>
          <a:xfrm>
            <a:off x="609600" y="4678710"/>
            <a:ext cx="81627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3" name="Google Shape;123;h44c5ae02c80db5ba_0_77" title="Screenshot 2026-07-06 at 1.43.16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775" y="1595874"/>
            <a:ext cx="1942303" cy="139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h44c5ae02c80db5ba_0_77" title="Screenshot 2026-07-08 at 5.20.08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9150" y="1595875"/>
            <a:ext cx="1889000" cy="139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h44c5ae02c80db5ba_0_77"/>
          <p:cNvSpPr/>
          <p:nvPr/>
        </p:nvSpPr>
        <p:spPr>
          <a:xfrm>
            <a:off x="6118038" y="3056306"/>
            <a:ext cx="2292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Space Grotesk"/>
              <a:buNone/>
            </a:pPr>
            <a:r>
              <a:rPr b="1"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App Scripts</a:t>
            </a:r>
            <a:endParaRPr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h44c5ae02c80db5ba_0_77"/>
          <p:cNvSpPr/>
          <p:nvPr/>
        </p:nvSpPr>
        <p:spPr>
          <a:xfrm>
            <a:off x="6118038" y="3380156"/>
            <a:ext cx="2292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000"/>
              <a:buFont typeface="DM Sans"/>
              <a:buNone/>
            </a:pPr>
            <a:r>
              <a:rPr lang="en" sz="1000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For google workspace</a:t>
            </a:r>
            <a:endParaRPr sz="1000">
              <a:solidFill>
                <a:srgbClr val="3D475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7" name="Google Shape;127;h44c5ae02c80db5ba_0_77" title="Screenshot 2026-10-23 at 4.36.2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8223" y="1739554"/>
            <a:ext cx="2292598" cy="1169804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44c5ae02c80db5ba_0_24"/>
          <p:cNvSpPr/>
          <p:nvPr/>
        </p:nvSpPr>
        <p:spPr>
          <a:xfrm>
            <a:off x="609600" y="609600"/>
            <a:ext cx="8162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531F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METHOD</a:t>
            </a:r>
            <a:endParaRPr i="0" sz="1100" u="none" cap="none" strike="noStrike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h44c5ae02c80db5ba_0_24"/>
          <p:cNvSpPr txBox="1"/>
          <p:nvPr>
            <p:ph type="title"/>
          </p:nvPr>
        </p:nvSpPr>
        <p:spPr>
          <a:xfrm>
            <a:off x="609600" y="872467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ct val="100000"/>
              <a:buFont typeface="Space Grotesk"/>
              <a:buNone/>
            </a:pPr>
            <a:r>
              <a:rPr b="1" i="0" lang="en" sz="27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How 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to</a:t>
            </a:r>
            <a:r>
              <a:rPr b="1" i="0" lang="en" sz="27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 manage AI-built solutions</a:t>
            </a:r>
            <a:endParaRPr sz="2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h44c5ae02c80db5ba_0_24"/>
          <p:cNvSpPr/>
          <p:nvPr/>
        </p:nvSpPr>
        <p:spPr>
          <a:xfrm>
            <a:off x="611981" y="1518716"/>
            <a:ext cx="2306700" cy="2195400"/>
          </a:xfrm>
          <a:prstGeom prst="roundRect">
            <a:avLst>
              <a:gd fmla="val 4230" name="adj"/>
            </a:avLst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h44c5ae02c80db5ba_0_24"/>
          <p:cNvSpPr/>
          <p:nvPr/>
        </p:nvSpPr>
        <p:spPr>
          <a:xfrm>
            <a:off x="842963" y="1835596"/>
            <a:ext cx="18999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Space Grotesk"/>
              <a:buNone/>
            </a:pPr>
            <a:r>
              <a:rPr b="1" i="0" lang="en" sz="17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Analyze the process</a:t>
            </a:r>
            <a:endParaRPr i="0" sz="1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h44c5ae02c80db5ba_0_24"/>
          <p:cNvSpPr/>
          <p:nvPr/>
        </p:nvSpPr>
        <p:spPr>
          <a:xfrm>
            <a:off x="842963" y="2923133"/>
            <a:ext cx="18999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What repeats? What takes time? Where is the business pain?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h44c5ae02c80db5ba_0_24"/>
          <p:cNvSpPr/>
          <p:nvPr/>
        </p:nvSpPr>
        <p:spPr>
          <a:xfrm>
            <a:off x="3418657" y="1518716"/>
            <a:ext cx="2306700" cy="2195400"/>
          </a:xfrm>
          <a:prstGeom prst="roundRect">
            <a:avLst>
              <a:gd fmla="val 4230" name="adj"/>
            </a:avLst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h44c5ae02c80db5ba_0_24"/>
          <p:cNvSpPr/>
          <p:nvPr/>
        </p:nvSpPr>
        <p:spPr>
          <a:xfrm>
            <a:off x="3649650" y="1835601"/>
            <a:ext cx="19002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Space Grotesk"/>
              <a:buNone/>
            </a:pPr>
            <a:r>
              <a:rPr b="1" i="0" lang="en" sz="17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Choose the tool</a:t>
            </a:r>
            <a:endParaRPr i="0" sz="1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h44c5ae02c80db5ba_0_24"/>
          <p:cNvSpPr/>
          <p:nvPr/>
        </p:nvSpPr>
        <p:spPr>
          <a:xfrm>
            <a:off x="3649638" y="2923133"/>
            <a:ext cx="1900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App or automation? Free or paid? Safe to share?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h44c5ae02c80db5ba_0_24"/>
          <p:cNvSpPr/>
          <p:nvPr/>
        </p:nvSpPr>
        <p:spPr>
          <a:xfrm>
            <a:off x="6225319" y="1518716"/>
            <a:ext cx="2306700" cy="2195400"/>
          </a:xfrm>
          <a:prstGeom prst="roundRect">
            <a:avLst>
              <a:gd fmla="val 4230" name="adj"/>
            </a:avLst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h44c5ae02c80db5ba_0_24"/>
          <p:cNvSpPr/>
          <p:nvPr/>
        </p:nvSpPr>
        <p:spPr>
          <a:xfrm>
            <a:off x="6456350" y="1835596"/>
            <a:ext cx="1900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Space Grotesk"/>
              <a:buNone/>
            </a:pPr>
            <a:r>
              <a:rPr b="1" i="0" lang="en" sz="17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Build &amp; iterate</a:t>
            </a:r>
            <a:endParaRPr i="0" sz="17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h44c5ae02c80db5ba_0_24"/>
          <p:cNvSpPr/>
          <p:nvPr/>
        </p:nvSpPr>
        <p:spPr>
          <a:xfrm>
            <a:off x="6401125" y="2980788"/>
            <a:ext cx="1900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Describe, generate, test, fix. Repeat until it works.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h44c5ae02c80db5ba_0_24"/>
          <p:cNvSpPr/>
          <p:nvPr/>
        </p:nvSpPr>
        <p:spPr>
          <a:xfrm>
            <a:off x="609600" y="3983199"/>
            <a:ext cx="81627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700"/>
              <a:buFont typeface="Space Grotesk"/>
              <a:buNone/>
            </a:pPr>
            <a:r>
              <a:rPr b="1" i="0" lang="en" sz="17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AI writes the code. </a:t>
            </a:r>
            <a:r>
              <a:rPr b="1" lang="en" sz="1700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You</a:t>
            </a:r>
            <a:r>
              <a:rPr b="1" i="0" lang="en" sz="17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 manage the process.</a:t>
            </a:r>
            <a:endParaRPr i="0" sz="1700" u="none" cap="none" strike="noStrike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44c5ae02c80db5ba_0_142"/>
          <p:cNvSpPr/>
          <p:nvPr/>
        </p:nvSpPr>
        <p:spPr>
          <a:xfrm>
            <a:off x="609600" y="609600"/>
            <a:ext cx="8162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531F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THE TERM</a:t>
            </a:r>
            <a:endParaRPr i="0" sz="1100" u="none" cap="none" strike="noStrike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h44c5ae02c80db5ba_0_142"/>
          <p:cNvSpPr txBox="1"/>
          <p:nvPr>
            <p:ph type="title"/>
          </p:nvPr>
        </p:nvSpPr>
        <p:spPr>
          <a:xfrm>
            <a:off x="609600" y="872467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ct val="100000"/>
              <a:buFont typeface="Space Grotesk"/>
              <a:buNone/>
            </a:pPr>
            <a:r>
              <a:rPr b="1" i="0" lang="en" sz="27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What is vibe coding?</a:t>
            </a:r>
            <a:endParaRPr sz="2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h44c5ae02c80db5ba_0_142"/>
          <p:cNvSpPr/>
          <p:nvPr/>
        </p:nvSpPr>
        <p:spPr>
          <a:xfrm>
            <a:off x="609600" y="1478235"/>
            <a:ext cx="34338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DM Sans"/>
              <a:buNone/>
            </a:pPr>
            <a:r>
              <a:rPr i="0" lang="en" sz="15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You describe </a:t>
            </a:r>
            <a:r>
              <a:rPr b="1" i="0" lang="en" sz="15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what</a:t>
            </a:r>
            <a:r>
              <a:rPr i="0" lang="en" sz="15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 the app should do in plain language. AI writes the code. You test the result and </a:t>
            </a: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validate</a:t>
            </a:r>
            <a:r>
              <a:rPr i="0" lang="en" sz="15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h44c5ae02c80db5ba_0_142"/>
          <p:cNvSpPr/>
          <p:nvPr/>
        </p:nvSpPr>
        <p:spPr>
          <a:xfrm>
            <a:off x="609600" y="3192935"/>
            <a:ext cx="3333900" cy="640200"/>
          </a:xfrm>
          <a:prstGeom prst="roundRect">
            <a:avLst>
              <a:gd fmla="val 119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91975" lIns="111025" spcFirstLastPara="1" rIns="19025" wrap="square" tIns="1110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What it is not: one prompt that automates your whole business.</a:t>
            </a:r>
            <a:endParaRPr i="0" sz="11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4" name="Google Shape;154;h44c5ae02c80db5ba_0_142"/>
          <p:cNvGraphicFramePr/>
          <p:nvPr/>
        </p:nvGraphicFramePr>
        <p:xfrm>
          <a:off x="4257675" y="1487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{42EB1FED-C7D3-4680-BB0E-261105F65844}</a:tableStyleId>
              </a:tblPr>
              <a:tblGrid>
                <a:gridCol w="1283025"/>
                <a:gridCol w="1496850"/>
                <a:gridCol w="1496850"/>
              </a:tblGrid>
              <a:tr h="3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DM Sans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000" marB="50000" marR="50000" marL="50000">
                    <a:lnL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3"/>
                        </a:buClr>
                        <a:buSzPts val="1100"/>
                        <a:buFont typeface="DM Sans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B24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Traditional coding</a:t>
                      </a:r>
                      <a:endParaRPr sz="11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000" marB="50000" marR="50000" marL="50000">
                    <a:lnL cap="flat" cmpd="sng" w="9525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3"/>
                        </a:buClr>
                        <a:buSzPts val="1100"/>
                        <a:buFont typeface="DM Sans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B24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Vibe coding</a:t>
                      </a:r>
                      <a:endParaRPr sz="11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000" marB="50000" marR="50000" marL="50000">
                    <a:lnL cap="flat" cmpd="sng" w="9525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</a:tr>
              <a:tr h="3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3"/>
                        </a:buClr>
                        <a:buSzPts val="1100"/>
                        <a:buFont typeface="DM Sans"/>
                        <a:buNone/>
                      </a:pPr>
                      <a:r>
                        <a:rPr lang="en" sz="1100" u="none" cap="none" strike="noStrike">
                          <a:solidFill>
                            <a:srgbClr val="1B24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 write</a:t>
                      </a:r>
                      <a:endParaRPr sz="11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000" marB="50000" marR="50000" marL="50000">
                    <a:lnL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3"/>
                        </a:buClr>
                        <a:buSzPts val="1100"/>
                        <a:buFont typeface="DM Sans"/>
                        <a:buNone/>
                      </a:pPr>
                      <a:r>
                        <a:rPr lang="en" sz="1100" u="none" cap="none" strike="noStrike">
                          <a:solidFill>
                            <a:srgbClr val="1B24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Syntax</a:t>
                      </a:r>
                      <a:endParaRPr sz="11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000" marB="50000" marR="50000" marL="50000">
                    <a:lnL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3"/>
                        </a:buClr>
                        <a:buSzPts val="1100"/>
                        <a:buFont typeface="DM Sans"/>
                        <a:buNone/>
                      </a:pPr>
                      <a:r>
                        <a:rPr lang="en" sz="1100" u="none" cap="none" strike="noStrike">
                          <a:solidFill>
                            <a:srgbClr val="1B24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description</a:t>
                      </a:r>
                      <a:endParaRPr sz="11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000" marB="50000" marR="50000" marL="50000">
                    <a:lnL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3"/>
                        </a:buClr>
                        <a:buSzPts val="1100"/>
                        <a:buFont typeface="DM Sans"/>
                        <a:buNone/>
                      </a:pPr>
                      <a:r>
                        <a:rPr lang="en" sz="1100" u="none" cap="none" strike="noStrike">
                          <a:solidFill>
                            <a:srgbClr val="1B24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 need</a:t>
                      </a:r>
                      <a:endParaRPr sz="11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000" marB="50000" marR="50000" marL="50000">
                    <a:lnL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3"/>
                        </a:buClr>
                        <a:buSzPts val="1100"/>
                        <a:buFont typeface="DM Sans"/>
                        <a:buNone/>
                      </a:pPr>
                      <a:r>
                        <a:rPr lang="en" sz="1100" u="none" cap="none" strike="noStrike">
                          <a:solidFill>
                            <a:srgbClr val="1B24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Programming skills</a:t>
                      </a:r>
                      <a:endParaRPr sz="11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000" marB="50000" marR="50000" marL="50000">
                    <a:lnL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3"/>
                        </a:buClr>
                        <a:buSzPts val="1100"/>
                        <a:buFont typeface="DM Sans"/>
                        <a:buNone/>
                      </a:pPr>
                      <a:r>
                        <a:rPr lang="en" sz="1100" u="none" cap="none" strike="noStrike">
                          <a:solidFill>
                            <a:srgbClr val="1B24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Clear thinking and testing</a:t>
                      </a:r>
                      <a:endParaRPr sz="11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000" marB="50000" marR="50000" marL="50000">
                    <a:lnL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3"/>
                        </a:buClr>
                        <a:buSzPts val="1100"/>
                        <a:buFont typeface="DM Sans"/>
                        <a:buNone/>
                      </a:pPr>
                      <a:r>
                        <a:rPr lang="en" sz="1100" u="none" cap="none" strike="noStrike">
                          <a:solidFill>
                            <a:srgbClr val="1B24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First version</a:t>
                      </a:r>
                      <a:endParaRPr sz="11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000" marB="50000" marR="50000" marL="50000">
                    <a:lnL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3"/>
                        </a:buClr>
                        <a:buSzPts val="1100"/>
                        <a:buFont typeface="DM Sans"/>
                        <a:buNone/>
                      </a:pPr>
                      <a:r>
                        <a:rPr lang="en" sz="1100" u="none" cap="none" strike="noStrike">
                          <a:solidFill>
                            <a:srgbClr val="1B24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Weeks</a:t>
                      </a:r>
                      <a:endParaRPr sz="11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000" marB="50000" marR="50000" marL="50000">
                    <a:lnL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433"/>
                        </a:buClr>
                        <a:buSzPts val="1100"/>
                        <a:buFont typeface="DM Sans"/>
                        <a:buNone/>
                      </a:pPr>
                      <a:r>
                        <a:rPr lang="en" sz="1100" u="none" cap="none" strike="noStrike">
                          <a:solidFill>
                            <a:srgbClr val="1B24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Minutes to hours</a:t>
                      </a:r>
                      <a:endParaRPr sz="11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000" marB="50000" marR="50000" marL="50000">
                    <a:lnL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44c5ae02c80db5ba_0_159"/>
          <p:cNvSpPr/>
          <p:nvPr/>
        </p:nvSpPr>
        <p:spPr>
          <a:xfrm>
            <a:off x="609600" y="609600"/>
            <a:ext cx="8162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TOOLKIT</a:t>
            </a:r>
            <a:endParaRPr i="0" sz="1100" u="none" cap="none" strike="noStrike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h44c5ae02c80db5ba_0_159"/>
          <p:cNvSpPr txBox="1"/>
          <p:nvPr>
            <p:ph type="title"/>
          </p:nvPr>
        </p:nvSpPr>
        <p:spPr>
          <a:xfrm>
            <a:off x="609600" y="872467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ct val="100000"/>
              <a:buFont typeface="Space Grotesk"/>
              <a:buNone/>
            </a:pPr>
            <a:r>
              <a:rPr b="1" i="0" lang="en" sz="27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Three tools</a:t>
            </a:r>
            <a:r>
              <a:rPr b="1" lang="en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 we will use today</a:t>
            </a:r>
            <a:endParaRPr sz="27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h44c5ae02c80db5ba_0_159"/>
          <p:cNvSpPr/>
          <p:nvPr/>
        </p:nvSpPr>
        <p:spPr>
          <a:xfrm>
            <a:off x="609600" y="1554435"/>
            <a:ext cx="2311500" cy="219060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h44c5ae02c80db5ba_0_159"/>
          <p:cNvSpPr/>
          <p:nvPr/>
        </p:nvSpPr>
        <p:spPr>
          <a:xfrm>
            <a:off x="838175" y="1802110"/>
            <a:ext cx="1909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800"/>
              <a:buFont typeface="Space Grotesk"/>
              <a:buNone/>
            </a:pPr>
            <a:r>
              <a:rPr b="1" i="0" lang="en" sz="18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Gemini</a:t>
            </a:r>
            <a:endParaRPr i="0" sz="18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h44c5ae02c80db5ba_0_159"/>
          <p:cNvSpPr/>
          <p:nvPr/>
        </p:nvSpPr>
        <p:spPr>
          <a:xfrm>
            <a:off x="838200" y="2339251"/>
            <a:ext cx="19098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200"/>
              <a:buFont typeface="DM Sans"/>
              <a:buNone/>
            </a:pPr>
            <a:r>
              <a:rPr i="0" lang="en" sz="12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Idea </a:t>
            </a:r>
            <a:r>
              <a:rPr lang="en" sz="12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to</a:t>
            </a:r>
            <a:r>
              <a:rPr i="0" lang="en" sz="12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 prompt</a:t>
            </a:r>
            <a:endParaRPr i="0" sz="12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h44c5ae02c80db5ba_0_159"/>
          <p:cNvSpPr/>
          <p:nvPr/>
        </p:nvSpPr>
        <p:spPr>
          <a:xfrm>
            <a:off x="838200" y="2956471"/>
            <a:ext cx="19098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Helps </a:t>
            </a:r>
            <a:r>
              <a:rPr lang="en" sz="11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to</a:t>
            </a:r>
            <a:r>
              <a:rPr i="0" lang="en" sz="11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 turn a rough idea into a clear, detailed instruction.</a:t>
            </a:r>
            <a:endParaRPr i="0" sz="11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h44c5ae02c80db5ba_0_159"/>
          <p:cNvSpPr/>
          <p:nvPr/>
        </p:nvSpPr>
        <p:spPr>
          <a:xfrm>
            <a:off x="3416275" y="1554435"/>
            <a:ext cx="2311500" cy="219060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h44c5ae02c80db5ba_0_159"/>
          <p:cNvSpPr/>
          <p:nvPr/>
        </p:nvSpPr>
        <p:spPr>
          <a:xfrm>
            <a:off x="3644850" y="1802110"/>
            <a:ext cx="1909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800"/>
              <a:buFont typeface="Space Grotesk"/>
              <a:buNone/>
            </a:pPr>
            <a:r>
              <a:rPr b="1" i="0" lang="en" sz="18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Antigravity</a:t>
            </a:r>
            <a:endParaRPr i="0" sz="18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h44c5ae02c80db5ba_0_159"/>
          <p:cNvSpPr/>
          <p:nvPr/>
        </p:nvSpPr>
        <p:spPr>
          <a:xfrm>
            <a:off x="3644875" y="2339251"/>
            <a:ext cx="19098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200"/>
              <a:buFont typeface="DM Sans"/>
              <a:buNone/>
            </a:pPr>
            <a:r>
              <a:rPr i="0" lang="en" sz="12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Prompt </a:t>
            </a:r>
            <a:r>
              <a:rPr lang="en" sz="12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to</a:t>
            </a:r>
            <a:r>
              <a:rPr i="0" lang="en" sz="12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 app</a:t>
            </a:r>
            <a:endParaRPr i="0" sz="12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h44c5ae02c80db5ba_0_159"/>
          <p:cNvSpPr/>
          <p:nvPr/>
        </p:nvSpPr>
        <p:spPr>
          <a:xfrm>
            <a:off x="3644875" y="2956471"/>
            <a:ext cx="19098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Google’s AI workspace: it writes, runs and fixes the code.</a:t>
            </a:r>
            <a:endParaRPr i="0" sz="11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h44c5ae02c80db5ba_0_159"/>
          <p:cNvSpPr/>
          <p:nvPr/>
        </p:nvSpPr>
        <p:spPr>
          <a:xfrm>
            <a:off x="6222988" y="1554435"/>
            <a:ext cx="2311500" cy="219060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h44c5ae02c80db5ba_0_159"/>
          <p:cNvSpPr/>
          <p:nvPr/>
        </p:nvSpPr>
        <p:spPr>
          <a:xfrm>
            <a:off x="6451563" y="1802110"/>
            <a:ext cx="1909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800"/>
              <a:buFont typeface="Space Grotesk"/>
              <a:buNone/>
            </a:pPr>
            <a:r>
              <a:rPr b="1" i="0" lang="en" sz="18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GitHub</a:t>
            </a:r>
            <a:endParaRPr i="0" sz="18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h44c5ae02c80db5ba_0_159"/>
          <p:cNvSpPr/>
          <p:nvPr/>
        </p:nvSpPr>
        <p:spPr>
          <a:xfrm>
            <a:off x="6451588" y="2339251"/>
            <a:ext cx="19098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200"/>
              <a:buFont typeface="DM Sans"/>
              <a:buNone/>
            </a:pPr>
            <a:r>
              <a:rPr i="0" lang="en" sz="12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App </a:t>
            </a:r>
            <a:r>
              <a:rPr lang="en" sz="12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to</a:t>
            </a:r>
            <a:r>
              <a:rPr i="0" lang="en" sz="12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 shared link</a:t>
            </a:r>
            <a:endParaRPr i="0" sz="12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h44c5ae02c80db5ba_0_159"/>
          <p:cNvSpPr/>
          <p:nvPr/>
        </p:nvSpPr>
        <p:spPr>
          <a:xfrm>
            <a:off x="6451588" y="2956471"/>
            <a:ext cx="1909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Stores the files and publishes the app as a web page.</a:t>
            </a:r>
            <a:endParaRPr i="0" sz="11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h44c5ae02c80db5ba_0_159"/>
          <p:cNvSpPr/>
          <p:nvPr/>
        </p:nvSpPr>
        <p:spPr>
          <a:xfrm>
            <a:off x="3537675" y="4030675"/>
            <a:ext cx="15072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lang="en" sz="9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https://antigravity.google/</a:t>
            </a:r>
            <a:r>
              <a:rPr lang="en" sz="900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0" sz="900" u="none" cap="none" strike="noStrike">
              <a:solidFill>
                <a:srgbClr val="1155CC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h44c5ae02c80db5ba_0_159"/>
          <p:cNvSpPr/>
          <p:nvPr/>
        </p:nvSpPr>
        <p:spPr>
          <a:xfrm>
            <a:off x="6324600" y="4030675"/>
            <a:ext cx="23115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lang="en" sz="9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https://github.com/login</a:t>
            </a:r>
            <a:r>
              <a:rPr lang="en" sz="9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900" u="sng">
              <a:solidFill>
                <a:srgbClr val="1155C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h44c5ae02c80db5ba_0_159"/>
          <p:cNvSpPr/>
          <p:nvPr/>
        </p:nvSpPr>
        <p:spPr>
          <a:xfrm>
            <a:off x="697475" y="4030675"/>
            <a:ext cx="20505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lang="en" sz="9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https://gemini.google.com/app</a:t>
            </a:r>
            <a:r>
              <a:rPr lang="en" sz="900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0" sz="900" u="none" cap="none" strike="noStrike">
              <a:solidFill>
                <a:srgbClr val="1155CC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44c5ae02c80db5ba_0_190"/>
          <p:cNvSpPr/>
          <p:nvPr/>
        </p:nvSpPr>
        <p:spPr>
          <a:xfrm>
            <a:off x="609600" y="609600"/>
            <a:ext cx="8162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531F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BEFORE YOU PUBLISH</a:t>
            </a:r>
            <a:endParaRPr i="0" sz="1100" u="none" cap="none" strike="noStrike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h44c5ae02c80db5ba_0_190"/>
          <p:cNvSpPr txBox="1"/>
          <p:nvPr>
            <p:ph type="title"/>
          </p:nvPr>
        </p:nvSpPr>
        <p:spPr>
          <a:xfrm>
            <a:off x="609600" y="872467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ct val="100000"/>
              <a:buFont typeface="Space Grotesk"/>
              <a:buNone/>
            </a:pPr>
            <a:r>
              <a:rPr b="1" i="0" lang="en" sz="27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What’s public, what’s not</a:t>
            </a:r>
            <a:endParaRPr sz="2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h44c5ae02c80db5ba_0_190"/>
          <p:cNvSpPr/>
          <p:nvPr/>
        </p:nvSpPr>
        <p:spPr>
          <a:xfrm>
            <a:off x="609600" y="1478235"/>
            <a:ext cx="2536800" cy="1771800"/>
          </a:xfrm>
          <a:prstGeom prst="roundRect">
            <a:avLst>
              <a:gd fmla="val 53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h44c5ae02c80db5ba_0_190"/>
          <p:cNvSpPr/>
          <p:nvPr/>
        </p:nvSpPr>
        <p:spPr>
          <a:xfrm>
            <a:off x="771175" y="1694835"/>
            <a:ext cx="1901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Visible to anyone</a:t>
            </a:r>
            <a:endParaRPr i="0" sz="15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h44c5ae02c80db5ba_0_190"/>
          <p:cNvSpPr/>
          <p:nvPr/>
        </p:nvSpPr>
        <p:spPr>
          <a:xfrm>
            <a:off x="756650" y="2116448"/>
            <a:ext cx="21120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335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The code and the design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335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Anything written into the code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335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A Pages site, even from a private repository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h44c5ae02c80db5ba_0_190"/>
          <p:cNvSpPr/>
          <p:nvPr/>
        </p:nvSpPr>
        <p:spPr>
          <a:xfrm>
            <a:off x="3298813" y="1478235"/>
            <a:ext cx="2536800" cy="1771800"/>
          </a:xfrm>
          <a:prstGeom prst="roundRect">
            <a:avLst>
              <a:gd fmla="val 53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h44c5ae02c80db5ba_0_190"/>
          <p:cNvSpPr/>
          <p:nvPr/>
        </p:nvSpPr>
        <p:spPr>
          <a:xfrm>
            <a:off x="3451197" y="1694835"/>
            <a:ext cx="1876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Stays in the browser</a:t>
            </a:r>
            <a:endParaRPr i="0" sz="15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h44c5ae02c80db5ba_0_190"/>
          <p:cNvSpPr/>
          <p:nvPr/>
        </p:nvSpPr>
        <p:spPr>
          <a:xfrm>
            <a:off x="3451200" y="2261398"/>
            <a:ext cx="21120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335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Company names typed in the form</a:t>
            </a:r>
            <a:endParaRPr i="0" sz="11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335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Uploaded logos</a:t>
            </a:r>
            <a:endParaRPr i="0" sz="11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335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Prices and quantities</a:t>
            </a:r>
            <a:endParaRPr i="0" sz="11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h44c5ae02c80db5ba_0_190"/>
          <p:cNvSpPr/>
          <p:nvPr/>
        </p:nvSpPr>
        <p:spPr>
          <a:xfrm>
            <a:off x="5990444" y="1480616"/>
            <a:ext cx="2541600" cy="1767000"/>
          </a:xfrm>
          <a:prstGeom prst="roundRect">
            <a:avLst>
              <a:gd fmla="val 5256" name="adj"/>
            </a:avLst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h44c5ae02c80db5ba_0_190"/>
          <p:cNvSpPr/>
          <p:nvPr/>
        </p:nvSpPr>
        <p:spPr>
          <a:xfrm>
            <a:off x="6154400" y="1699597"/>
            <a:ext cx="1203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Check first</a:t>
            </a:r>
            <a:endParaRPr i="0" sz="15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h44c5ae02c80db5ba_0_190"/>
          <p:cNvSpPr/>
          <p:nvPr/>
        </p:nvSpPr>
        <p:spPr>
          <a:xfrm>
            <a:off x="6154400" y="2016400"/>
            <a:ext cx="21120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335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No client files left in the folder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335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No keys or passwords in the code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3" name="Google Shape;193;h44c5ae02c80db5ba_0_190"/>
          <p:cNvSpPr/>
          <p:nvPr/>
        </p:nvSpPr>
        <p:spPr>
          <a:xfrm>
            <a:off x="609600" y="3783435"/>
            <a:ext cx="8162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The risk is not that the app is visible. </a:t>
            </a:r>
            <a:r>
              <a:rPr b="1" i="0" lang="en" sz="15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It’s what is written in it.</a:t>
            </a:r>
            <a:endParaRPr i="0" sz="1500" u="none" cap="none" strike="noStrike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269c6f86afb76f0_0_0"/>
          <p:cNvSpPr/>
          <p:nvPr/>
        </p:nvSpPr>
        <p:spPr>
          <a:xfrm>
            <a:off x="609600" y="609600"/>
            <a:ext cx="8162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531F"/>
              </a:buClr>
              <a:buSzPts val="1100"/>
              <a:buFont typeface="DM Sans"/>
              <a:buNone/>
            </a:pPr>
            <a:r>
              <a:rPr lang="en" sz="1100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KEEP IN MIND</a:t>
            </a:r>
            <a:endParaRPr i="0" sz="1100" u="none" cap="none" strike="noStrike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h269c6f86afb76f0_0_0"/>
          <p:cNvSpPr txBox="1"/>
          <p:nvPr>
            <p:ph type="title"/>
          </p:nvPr>
        </p:nvSpPr>
        <p:spPr>
          <a:xfrm>
            <a:off x="609600" y="872467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ct val="100000"/>
              <a:buFont typeface="Space Grotesk"/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When the tool doesn’t work as expected</a:t>
            </a:r>
            <a:endParaRPr sz="2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h269c6f86afb76f0_0_0"/>
          <p:cNvSpPr/>
          <p:nvPr/>
        </p:nvSpPr>
        <p:spPr>
          <a:xfrm>
            <a:off x="609600" y="1430925"/>
            <a:ext cx="78567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Working with AI tools, the process sometimes stops or the result is wrong. This is a normal part of the work, and the fix is almost always simple.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1. The tool is overloaded and not responding</a:t>
            </a:r>
            <a:b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Google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anti gravity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similar tools are often overloaded. Wait a few minutes, refresh and try again.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 The AI hallucinates</a:t>
            </a:r>
            <a:b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AI can confidently give wrong or invented answers. Verify facts and numbers, clarify your instructions, and ask the AI to correct the mistake.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 Tokens run out</a:t>
            </a:r>
            <a:b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After a long conversation or a large file, the tool may hit its limit and stop responding. Start a new conversation, briefly summarize what has been done, and continue from there.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Rule of thumb: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One tool is never the only way. Try another tool or a different approach.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44c5ae02c80db5ba_0_217"/>
          <p:cNvSpPr/>
          <p:nvPr/>
        </p:nvSpPr>
        <p:spPr>
          <a:xfrm>
            <a:off x="609600" y="609600"/>
            <a:ext cx="8162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100"/>
              <a:buFont typeface="DM Sans"/>
              <a:buNone/>
            </a:pPr>
            <a:r>
              <a:rPr i="0" lang="en" sz="15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RISKS &amp; SAFEGUARDS </a:t>
            </a: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5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Risks &amp; safeguards checklists</a:t>
            </a:r>
            <a:r>
              <a:rPr i="0" lang="en" sz="11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0" sz="1100" u="none" cap="none" strike="noStrike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h44c5ae02c80db5ba_0_217"/>
          <p:cNvSpPr/>
          <p:nvPr/>
        </p:nvSpPr>
        <p:spPr>
          <a:xfrm>
            <a:off x="609600" y="1074560"/>
            <a:ext cx="3905400" cy="983100"/>
          </a:xfrm>
          <a:prstGeom prst="roundRect">
            <a:avLst>
              <a:gd fmla="val 9690" name="adj"/>
            </a:avLst>
          </a:prstGeom>
          <a:solidFill>
            <a:srgbClr val="2230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h44c5ae02c80db5ba_0_217"/>
          <p:cNvSpPr/>
          <p:nvPr/>
        </p:nvSpPr>
        <p:spPr>
          <a:xfrm>
            <a:off x="781050" y="1266096"/>
            <a:ext cx="1544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F6F4EF"/>
                </a:solidFill>
                <a:latin typeface="Open Sans"/>
                <a:ea typeface="Open Sans"/>
                <a:cs typeface="Open Sans"/>
                <a:sym typeface="Open Sans"/>
              </a:rPr>
              <a:t>Secrets in code</a:t>
            </a:r>
            <a:endParaRPr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h44c5ae02c80db5ba_0_217"/>
          <p:cNvSpPr/>
          <p:nvPr/>
        </p:nvSpPr>
        <p:spPr>
          <a:xfrm>
            <a:off x="781050" y="1512710"/>
            <a:ext cx="3669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C9D2DE"/>
                </a:solidFill>
                <a:latin typeface="Open Sans"/>
                <a:ea typeface="Open Sans"/>
                <a:cs typeface="Open Sans"/>
                <a:sym typeface="Open Sans"/>
              </a:rPr>
              <a:t>API keys and passwords in a web page are visible to anyone. </a:t>
            </a:r>
            <a:r>
              <a:rPr b="1" i="0" lang="en" sz="11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Safeguard:</a:t>
            </a:r>
            <a:r>
              <a:rPr i="0" lang="en" sz="11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i="0" lang="en" sz="1100" u="none" cap="none" strike="noStrike">
                <a:solidFill>
                  <a:srgbClr val="C9D2DE"/>
                </a:solidFill>
                <a:latin typeface="Open Sans"/>
                <a:ea typeface="Open Sans"/>
                <a:cs typeface="Open Sans"/>
                <a:sym typeface="Open Sans"/>
              </a:rPr>
              <a:t>keep them out of the code.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h44c5ae02c80db5ba_0_217"/>
          <p:cNvSpPr/>
          <p:nvPr/>
        </p:nvSpPr>
        <p:spPr>
          <a:xfrm>
            <a:off x="609600" y="2266998"/>
            <a:ext cx="3905400" cy="983100"/>
          </a:xfrm>
          <a:prstGeom prst="roundRect">
            <a:avLst>
              <a:gd fmla="val 9690" name="adj"/>
            </a:avLst>
          </a:prstGeom>
          <a:solidFill>
            <a:srgbClr val="2230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h44c5ae02c80db5ba_0_217"/>
          <p:cNvSpPr/>
          <p:nvPr/>
        </p:nvSpPr>
        <p:spPr>
          <a:xfrm>
            <a:off x="781050" y="2458533"/>
            <a:ext cx="1732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F6F4EF"/>
                </a:solidFill>
                <a:latin typeface="Open Sans"/>
                <a:ea typeface="Open Sans"/>
                <a:cs typeface="Open Sans"/>
                <a:sym typeface="Open Sans"/>
              </a:rPr>
              <a:t>Real data in tests</a:t>
            </a:r>
            <a:endParaRPr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h44c5ae02c80db5ba_0_217"/>
          <p:cNvSpPr/>
          <p:nvPr/>
        </p:nvSpPr>
        <p:spPr>
          <a:xfrm>
            <a:off x="781050" y="2705148"/>
            <a:ext cx="3669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C9D2DE"/>
                </a:solidFill>
                <a:latin typeface="Open Sans"/>
                <a:ea typeface="Open Sans"/>
                <a:cs typeface="Open Sans"/>
                <a:sym typeface="Open Sans"/>
              </a:rPr>
              <a:t>Client logos and PDFs left in the project folder. </a:t>
            </a:r>
            <a:r>
              <a:rPr b="1" i="0" lang="en" sz="11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Safeguard:</a:t>
            </a:r>
            <a:r>
              <a:rPr i="0" lang="en" sz="11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i="0" lang="en" sz="1100" u="none" cap="none" strike="noStrike">
                <a:solidFill>
                  <a:srgbClr val="C9D2DE"/>
                </a:solidFill>
                <a:latin typeface="Open Sans"/>
                <a:ea typeface="Open Sans"/>
                <a:cs typeface="Open Sans"/>
                <a:sym typeface="Open Sans"/>
              </a:rPr>
              <a:t>test with invented data only.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h44c5ae02c80db5ba_0_217"/>
          <p:cNvSpPr/>
          <p:nvPr/>
        </p:nvSpPr>
        <p:spPr>
          <a:xfrm>
            <a:off x="609600" y="3459421"/>
            <a:ext cx="3905400" cy="983100"/>
          </a:xfrm>
          <a:prstGeom prst="roundRect">
            <a:avLst>
              <a:gd fmla="val 9690" name="adj"/>
            </a:avLst>
          </a:prstGeom>
          <a:solidFill>
            <a:srgbClr val="2230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h44c5ae02c80db5ba_0_217"/>
          <p:cNvSpPr/>
          <p:nvPr/>
        </p:nvSpPr>
        <p:spPr>
          <a:xfrm>
            <a:off x="781050" y="3632793"/>
            <a:ext cx="18642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F6F4EF"/>
                </a:solidFill>
                <a:latin typeface="Open Sans"/>
                <a:ea typeface="Open Sans"/>
                <a:cs typeface="Open Sans"/>
                <a:sym typeface="Open Sans"/>
              </a:rPr>
              <a:t>Unchecked output</a:t>
            </a:r>
            <a:endParaRPr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h44c5ae02c80db5ba_0_217"/>
          <p:cNvSpPr/>
          <p:nvPr/>
        </p:nvSpPr>
        <p:spPr>
          <a:xfrm>
            <a:off x="781050" y="3897571"/>
            <a:ext cx="3669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C9D2DE"/>
                </a:solidFill>
                <a:latin typeface="DM Sans"/>
                <a:ea typeface="DM Sans"/>
                <a:cs typeface="DM Sans"/>
                <a:sym typeface="DM Sans"/>
              </a:rPr>
              <a:t>AI can miscalculate or break a layout. </a:t>
            </a:r>
            <a:r>
              <a:rPr b="1" i="0" lang="en" sz="1100" u="none" cap="none" strike="noStrike">
                <a:solidFill>
                  <a:srgbClr val="E8190A"/>
                </a:solidFill>
                <a:latin typeface="DM Sans"/>
                <a:ea typeface="DM Sans"/>
                <a:cs typeface="DM Sans"/>
                <a:sym typeface="DM Sans"/>
              </a:rPr>
              <a:t>Safeguard:</a:t>
            </a:r>
            <a:r>
              <a:rPr b="0" i="0" lang="en" sz="1100" u="none" cap="none" strike="noStrike">
                <a:solidFill>
                  <a:srgbClr val="E8190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" sz="1100" u="none" cap="none" strike="noStrike">
                <a:solidFill>
                  <a:srgbClr val="C9D2DE"/>
                </a:solidFill>
                <a:latin typeface="DM Sans"/>
                <a:ea typeface="DM Sans"/>
                <a:cs typeface="DM Sans"/>
                <a:sym typeface="DM Sans"/>
              </a:rPr>
              <a:t>a human checks before anything is sent.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44c5ae02c80db5ba_0_247"/>
          <p:cNvSpPr/>
          <p:nvPr/>
        </p:nvSpPr>
        <p:spPr>
          <a:xfrm>
            <a:off x="531975" y="301354"/>
            <a:ext cx="8162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2531F"/>
              </a:buClr>
              <a:buSzPts val="1400"/>
              <a:buFont typeface="DM Sans"/>
              <a:buNone/>
            </a:pPr>
            <a:r>
              <a:rPr lang="en" sz="1500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CASE STUDY AND LET’S BUILD TOGETHER </a:t>
            </a:r>
            <a:r>
              <a:rPr b="1" lang="en" sz="15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Prompt Library</a:t>
            </a:r>
            <a:endParaRPr b="1" sz="1500">
              <a:solidFill>
                <a:srgbClr val="1155C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h44c5ae02c80db5ba_0_247"/>
          <p:cNvSpPr txBox="1"/>
          <p:nvPr>
            <p:ph type="title"/>
          </p:nvPr>
        </p:nvSpPr>
        <p:spPr>
          <a:xfrm>
            <a:off x="531975" y="754725"/>
            <a:ext cx="7358100" cy="12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3240"/>
              <a:buFont typeface="Space Grotesk"/>
              <a:buNone/>
            </a:pPr>
            <a:r>
              <a:rPr b="1" i="0" lang="en" sz="304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A tailored proposal generator for Compan</a:t>
            </a:r>
            <a:r>
              <a:rPr b="1" lang="en" sz="3040">
                <a:latin typeface="Open Sans"/>
                <a:ea typeface="Open Sans"/>
                <a:cs typeface="Open Sans"/>
                <a:sym typeface="Open Sans"/>
              </a:rPr>
              <a:t>ies</a:t>
            </a:r>
            <a:r>
              <a:rPr b="1" i="0" lang="en" sz="304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, with their logo and brand colours. </a:t>
            </a:r>
            <a:endParaRPr b="1" sz="304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h44c5ae02c80db5ba_0_247"/>
          <p:cNvSpPr/>
          <p:nvPr/>
        </p:nvSpPr>
        <p:spPr>
          <a:xfrm>
            <a:off x="531981" y="2451916"/>
            <a:ext cx="3848100" cy="1977300"/>
          </a:xfrm>
          <a:prstGeom prst="roundRect">
            <a:avLst>
              <a:gd fmla="val 4697" name="adj"/>
            </a:avLst>
          </a:prstGeom>
          <a:solidFill>
            <a:srgbClr val="FFFFFF"/>
          </a:solidFill>
          <a:ln cap="flat" cmpd="sng" w="7150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h44c5ae02c80db5ba_0_247"/>
          <p:cNvSpPr/>
          <p:nvPr/>
        </p:nvSpPr>
        <p:spPr>
          <a:xfrm>
            <a:off x="762963" y="2527134"/>
            <a:ext cx="3487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BEFORE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" name="Google Shape;226;h44c5ae02c80db5ba_0_247"/>
          <p:cNvSpPr/>
          <p:nvPr/>
        </p:nvSpPr>
        <p:spPr>
          <a:xfrm>
            <a:off x="762963" y="2750491"/>
            <a:ext cx="3487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3600"/>
              <a:buFont typeface="Space Grotesk"/>
              <a:buNone/>
            </a:pPr>
            <a:r>
              <a:rPr b="1" lang="en" sz="36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30 minutes</a:t>
            </a:r>
            <a:endParaRPr i="0" sz="3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h44c5ae02c80db5ba_0_247"/>
          <p:cNvSpPr/>
          <p:nvPr/>
        </p:nvSpPr>
        <p:spPr>
          <a:xfrm>
            <a:off x="816303" y="3555366"/>
            <a:ext cx="34287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33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A designer adapts the template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33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Waiting for revisions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33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4756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3D4756"/>
                </a:solidFill>
                <a:latin typeface="Open Sans"/>
                <a:ea typeface="Open Sans"/>
                <a:cs typeface="Open Sans"/>
                <a:sym typeface="Open Sans"/>
              </a:rPr>
              <a:t>Prices and totals calculated by hand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h44c5ae02c80db5ba_0_247"/>
          <p:cNvSpPr/>
          <p:nvPr/>
        </p:nvSpPr>
        <p:spPr>
          <a:xfrm>
            <a:off x="4611063" y="2449535"/>
            <a:ext cx="3843600" cy="1982100"/>
          </a:xfrm>
          <a:prstGeom prst="roundRect">
            <a:avLst>
              <a:gd fmla="val 4805" name="adj"/>
            </a:avLst>
          </a:prstGeom>
          <a:solidFill>
            <a:srgbClr val="2230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h44c5ae02c80db5ba_0_247"/>
          <p:cNvSpPr/>
          <p:nvPr/>
        </p:nvSpPr>
        <p:spPr>
          <a:xfrm>
            <a:off x="4839663" y="2522371"/>
            <a:ext cx="3487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100"/>
              <a:buFont typeface="DM Sans"/>
              <a:buNone/>
            </a:pPr>
            <a:r>
              <a:rPr i="0" lang="en" sz="11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AFTER</a:t>
            </a:r>
            <a:endParaRPr i="0" sz="1100" u="none" cap="none" strike="noStrike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h44c5ae02c80db5ba_0_247"/>
          <p:cNvSpPr/>
          <p:nvPr/>
        </p:nvSpPr>
        <p:spPr>
          <a:xfrm>
            <a:off x="4839663" y="2745728"/>
            <a:ext cx="3487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3600"/>
              <a:buFont typeface="Space Grotesk"/>
              <a:buNone/>
            </a:pPr>
            <a:r>
              <a:rPr b="1" lang="en" sz="3600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3 </a:t>
            </a:r>
            <a:r>
              <a:rPr b="1" i="0" lang="en" sz="3600" u="none" cap="none" strike="noStrike">
                <a:solidFill>
                  <a:srgbClr val="E8190A"/>
                </a:solidFill>
                <a:latin typeface="Open Sans"/>
                <a:ea typeface="Open Sans"/>
                <a:cs typeface="Open Sans"/>
                <a:sym typeface="Open Sans"/>
              </a:rPr>
              <a:t>minutes</a:t>
            </a:r>
            <a:endParaRPr i="0" sz="3600" u="none" cap="none" strike="noStrike">
              <a:solidFill>
                <a:srgbClr val="E8190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h44c5ae02c80db5ba_0_247"/>
          <p:cNvSpPr/>
          <p:nvPr/>
        </p:nvSpPr>
        <p:spPr>
          <a:xfrm>
            <a:off x="4893002" y="3550603"/>
            <a:ext cx="34287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33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F6F4EF"/>
                </a:solidFill>
                <a:latin typeface="Open Sans"/>
                <a:ea typeface="Open Sans"/>
                <a:cs typeface="Open Sans"/>
                <a:sym typeface="Open Sans"/>
              </a:rPr>
              <a:t>Upload a logo: brand colours applied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33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F6F4EF"/>
                </a:solidFill>
                <a:latin typeface="Open Sans"/>
                <a:ea typeface="Open Sans"/>
                <a:cs typeface="Open Sans"/>
                <a:sym typeface="Open Sans"/>
              </a:rPr>
              <a:t>Totals calculated automatically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333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100"/>
              <a:buFont typeface="Open Sans"/>
              <a:buChar char="•"/>
            </a:pPr>
            <a:r>
              <a:rPr i="0" lang="en" sz="1100" u="none" cap="none" strike="noStrike">
                <a:solidFill>
                  <a:srgbClr val="F6F4EF"/>
                </a:solidFill>
                <a:latin typeface="Open Sans"/>
                <a:ea typeface="Open Sans"/>
                <a:cs typeface="Open Sans"/>
                <a:sym typeface="Open Sans"/>
              </a:rPr>
              <a:t>Ready-to-send PDF in one click</a:t>
            </a:r>
            <a:endParaRPr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h44c5ae02c80db5ba_0_247"/>
          <p:cNvSpPr/>
          <p:nvPr/>
        </p:nvSpPr>
        <p:spPr>
          <a:xfrm>
            <a:off x="666075" y="4672950"/>
            <a:ext cx="31227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DM Sans"/>
              <a:buNone/>
            </a:pPr>
            <a:r>
              <a:rPr lang="en" sz="9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https://labadzelana.github.io/Offer-template-generator/</a:t>
            </a:r>
            <a:r>
              <a:rPr lang="en" sz="9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i="0" sz="900" u="none" cap="none" strike="noStrike">
              <a:solidFill>
                <a:srgbClr val="1155CC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44c5ae02c80db5ba_0_302"/>
          <p:cNvSpPr/>
          <p:nvPr/>
        </p:nvSpPr>
        <p:spPr>
          <a:xfrm>
            <a:off x="602650" y="535833"/>
            <a:ext cx="2060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100"/>
              <a:buFont typeface="DM Sans"/>
              <a:buNone/>
            </a:pPr>
            <a:r>
              <a:rPr lang="en" sz="11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STEP</a:t>
            </a:r>
            <a:endParaRPr i="0" sz="1100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h44c5ae02c80db5ba_0_302"/>
          <p:cNvSpPr/>
          <p:nvPr/>
        </p:nvSpPr>
        <p:spPr>
          <a:xfrm>
            <a:off x="602650" y="836800"/>
            <a:ext cx="2060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9000"/>
              <a:buFont typeface="Space Grotesk"/>
              <a:buNone/>
            </a:pPr>
            <a:r>
              <a:rPr b="1" i="0" lang="en" sz="9000" cap="none" strike="noStrike">
                <a:solidFill>
                  <a:srgbClr val="16202E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r>
              <a:rPr b="1" lang="en" sz="9000">
                <a:solidFill>
                  <a:srgbClr val="16202E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0" i="0" sz="9000" cap="none" strike="noStrike">
              <a:solidFill>
                <a:srgbClr val="1620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h44c5ae02c80db5ba_0_302"/>
          <p:cNvSpPr txBox="1"/>
          <p:nvPr>
            <p:ph type="title"/>
          </p:nvPr>
        </p:nvSpPr>
        <p:spPr>
          <a:xfrm>
            <a:off x="2983900" y="492040"/>
            <a:ext cx="57099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ct val="100000"/>
              <a:buFont typeface="Space Grotesk"/>
              <a:buNone/>
            </a:pPr>
            <a:r>
              <a:rPr b="1" i="0" lang="en" sz="27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Build the base</a:t>
            </a:r>
            <a:endParaRPr sz="27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h44c5ae02c80db5ba_0_302"/>
          <p:cNvSpPr/>
          <p:nvPr/>
        </p:nvSpPr>
        <p:spPr>
          <a:xfrm>
            <a:off x="3011125" y="1463547"/>
            <a:ext cx="5676900" cy="20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Prepare the folder on the desktop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i="0" lang="en" sz="1500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Open Antigravity and start a new project, attach the folder</a:t>
            </a:r>
            <a:endParaRPr i="0" sz="1500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Write idea and task you need and give it to Gemini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After Gemini generates prompt paste it into the </a:t>
            </a: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Antigravity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After the work is done open first version in the browser</a:t>
            </a:r>
            <a:endParaRPr i="0" sz="1500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i="0" lang="en" sz="1500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Check</a:t>
            </a: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 and test the app.</a:t>
            </a:r>
            <a:endParaRPr i="0" sz="1500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44c5ae02c80db5ba_0_333"/>
          <p:cNvSpPr/>
          <p:nvPr/>
        </p:nvSpPr>
        <p:spPr>
          <a:xfrm>
            <a:off x="602625" y="410558"/>
            <a:ext cx="2060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100"/>
              <a:buFont typeface="DM Sans"/>
              <a:buNone/>
            </a:pPr>
            <a:r>
              <a:rPr lang="en" sz="11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STEP</a:t>
            </a:r>
            <a:endParaRPr i="0" sz="1100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h44c5ae02c80db5ba_0_333"/>
          <p:cNvSpPr/>
          <p:nvPr/>
        </p:nvSpPr>
        <p:spPr>
          <a:xfrm>
            <a:off x="602625" y="711525"/>
            <a:ext cx="2060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9000"/>
              <a:buFont typeface="Space Grotesk"/>
              <a:buNone/>
            </a:pPr>
            <a:r>
              <a:rPr b="1" i="0" lang="en" sz="9000" cap="none" strike="noStrike">
                <a:solidFill>
                  <a:srgbClr val="16202E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r>
              <a:rPr b="1" lang="en" sz="9000">
                <a:solidFill>
                  <a:srgbClr val="16202E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0" i="0" sz="9000" cap="none" strike="noStrike">
              <a:solidFill>
                <a:srgbClr val="1620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9" name="Google Shape;249;h44c5ae02c80db5ba_0_333"/>
          <p:cNvSpPr txBox="1"/>
          <p:nvPr>
            <p:ph type="title"/>
          </p:nvPr>
        </p:nvSpPr>
        <p:spPr>
          <a:xfrm>
            <a:off x="2983875" y="366765"/>
            <a:ext cx="57099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ct val="100000"/>
              <a:buFont typeface="Space Grotesk"/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Improvement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h44c5ae02c80db5ba_0_333"/>
          <p:cNvSpPr/>
          <p:nvPr/>
        </p:nvSpPr>
        <p:spPr>
          <a:xfrm>
            <a:off x="3011100" y="1338277"/>
            <a:ext cx="56769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Use second prompt, give the task to allow logo upload and color pallete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After work is complete, test again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Check if everything </a:t>
            </a: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works</a:t>
            </a: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 and if not continue improvement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Next improvement: PDF download option (in my case it did it itself)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Debugging example: the PDF had extra blank space, so I described the problem and AI fixed it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Again testing and improving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44c5ae02c80db5ba_0_341"/>
          <p:cNvSpPr/>
          <p:nvPr/>
        </p:nvSpPr>
        <p:spPr>
          <a:xfrm>
            <a:off x="609600" y="410558"/>
            <a:ext cx="2060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100"/>
              <a:buFont typeface="DM Sans"/>
              <a:buNone/>
            </a:pPr>
            <a:r>
              <a:rPr lang="en" sz="11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STEP</a:t>
            </a:r>
            <a:endParaRPr i="0" sz="11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h44c5ae02c80db5ba_0_341"/>
          <p:cNvSpPr/>
          <p:nvPr/>
        </p:nvSpPr>
        <p:spPr>
          <a:xfrm>
            <a:off x="609600" y="711525"/>
            <a:ext cx="2060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9000"/>
              <a:buFont typeface="Space Grotesk"/>
              <a:buNone/>
            </a:pPr>
            <a:r>
              <a:rPr b="1" i="0" lang="en" sz="9000" u="none" cap="none" strike="noStrike">
                <a:solidFill>
                  <a:srgbClr val="16202E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b="0" i="0" sz="9000" u="none" cap="none" strike="noStrike">
              <a:solidFill>
                <a:srgbClr val="1620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8" name="Google Shape;258;h44c5ae02c80db5ba_0_341"/>
          <p:cNvSpPr txBox="1"/>
          <p:nvPr>
            <p:ph type="title"/>
          </p:nvPr>
        </p:nvSpPr>
        <p:spPr>
          <a:xfrm>
            <a:off x="2990850" y="366765"/>
            <a:ext cx="57099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ct val="100000"/>
              <a:buFont typeface="Space Grotesk"/>
              <a:buNone/>
            </a:pPr>
            <a:r>
              <a:rPr b="1" lang="en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Publish at Github</a:t>
            </a:r>
            <a:endParaRPr sz="27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h44c5ae02c80db5ba_0_341"/>
          <p:cNvSpPr/>
          <p:nvPr/>
        </p:nvSpPr>
        <p:spPr>
          <a:xfrm>
            <a:off x="2990850" y="934433"/>
            <a:ext cx="57099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200"/>
              <a:buFont typeface="DM Sans"/>
              <a:buNone/>
            </a:pPr>
            <a:r>
              <a:rPr i="0" lang="en" sz="1200" u="none" cap="none" strike="noStrike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A ready-to-send proposal, no designer involved.</a:t>
            </a:r>
            <a:endParaRPr i="0" sz="12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h44c5ae02c80db5ba_0_341"/>
          <p:cNvSpPr/>
          <p:nvPr/>
        </p:nvSpPr>
        <p:spPr>
          <a:xfrm>
            <a:off x="3018075" y="1338275"/>
            <a:ext cx="5890500" cy="3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Open github and register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Create a new </a:t>
            </a: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Repository</a:t>
            </a: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, name it same as the folder name, Choose Public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Take the link of the repository and paste it into the </a:t>
            </a: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Antigravity chat with the command:  </a:t>
            </a:r>
            <a:r>
              <a:rPr b="1"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commit to github </a:t>
            </a: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your repository link, for example: </a:t>
            </a:r>
            <a:r>
              <a:rPr lang="en" sz="15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https://labadzelana.github.io/Offer-template-generator/</a:t>
            </a:r>
            <a:r>
              <a:rPr lang="en" sz="15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500" u="sng">
              <a:solidFill>
                <a:srgbClr val="1155C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Open repository settings - left panel - Pages - Branch - (click) none - (choose) main - (and click) save 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1651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Open Sans"/>
              <a:buAutoNum type="arabicPeriod"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Wait  few minutes and click visit site and this is app link. 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155CC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155CC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6d560c50bcd47540_0_3"/>
          <p:cNvSpPr/>
          <p:nvPr/>
        </p:nvSpPr>
        <p:spPr>
          <a:xfrm>
            <a:off x="609600" y="410558"/>
            <a:ext cx="2060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100"/>
              <a:buFont typeface="DM Sans"/>
              <a:buNone/>
            </a:pPr>
            <a:r>
              <a:rPr lang="en" sz="11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STEP</a:t>
            </a:r>
            <a:endParaRPr i="0" sz="11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h6d560c50bcd47540_0_3"/>
          <p:cNvSpPr/>
          <p:nvPr/>
        </p:nvSpPr>
        <p:spPr>
          <a:xfrm>
            <a:off x="609600" y="711525"/>
            <a:ext cx="2060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9000"/>
              <a:buFont typeface="Space Grotesk"/>
              <a:buNone/>
            </a:pPr>
            <a:r>
              <a:rPr b="1" i="0" lang="en" sz="9000" u="none" cap="none" strike="noStrike">
                <a:solidFill>
                  <a:srgbClr val="16202E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r>
              <a:rPr b="1" lang="en" sz="9000">
                <a:solidFill>
                  <a:srgbClr val="16202E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0" i="0" sz="9000" u="none" cap="none" strike="noStrike">
              <a:solidFill>
                <a:srgbClr val="1620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8" name="Google Shape;268;h6d560c50bcd47540_0_3"/>
          <p:cNvSpPr txBox="1"/>
          <p:nvPr>
            <p:ph type="title"/>
          </p:nvPr>
        </p:nvSpPr>
        <p:spPr>
          <a:xfrm>
            <a:off x="2990850" y="366765"/>
            <a:ext cx="57099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ct val="100000"/>
              <a:buFont typeface="Space Grotesk"/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Before you publish</a:t>
            </a:r>
            <a:endParaRPr sz="27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h6d560c50bcd47540_0_3"/>
          <p:cNvSpPr/>
          <p:nvPr/>
        </p:nvSpPr>
        <p:spPr>
          <a:xfrm>
            <a:off x="2990850" y="934433"/>
            <a:ext cx="57099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200"/>
              <a:buFont typeface="DM Sans"/>
              <a:buNone/>
            </a:pPr>
            <a:r>
              <a:rPr lang="en" sz="12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Check list:</a:t>
            </a:r>
            <a:endParaRPr i="0" sz="1200" u="none" cap="none" strike="noStrike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h6d560c50bcd47540_0_3"/>
          <p:cNvSpPr/>
          <p:nvPr/>
        </p:nvSpPr>
        <p:spPr>
          <a:xfrm>
            <a:off x="3018075" y="1338276"/>
            <a:ext cx="5676900" cy="23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☐ No real client files in the folder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☐ No passwords or keys in the code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6202E"/>
                </a:solidFill>
                <a:latin typeface="Open Sans"/>
                <a:ea typeface="Open Sans"/>
                <a:cs typeface="Open Sans"/>
                <a:sym typeface="Open Sans"/>
              </a:rPr>
              <a:t>☐ Repository set to Public: the site will be visible to anyone</a:t>
            </a:r>
            <a:endParaRPr sz="15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h6d560c50bcd47540_0_3"/>
          <p:cNvSpPr txBox="1"/>
          <p:nvPr/>
        </p:nvSpPr>
        <p:spPr>
          <a:xfrm>
            <a:off x="2520350" y="4455300"/>
            <a:ext cx="592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shorturl.at/lfmSK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2F0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5bb930e929dd4d0d_0_2"/>
          <p:cNvSpPr txBox="1"/>
          <p:nvPr/>
        </p:nvSpPr>
        <p:spPr>
          <a:xfrm>
            <a:off x="534950" y="1742600"/>
            <a:ext cx="75816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>
                <a:solidFill>
                  <a:schemeClr val="dk2"/>
                </a:solidFill>
              </a:rPr>
              <a:t>shorturl.at/lfmSK</a:t>
            </a:r>
            <a:endParaRPr sz="6900">
              <a:solidFill>
                <a:schemeClr val="dk2"/>
              </a:solidFill>
            </a:endParaRPr>
          </a:p>
        </p:txBody>
      </p:sp>
      <p:sp>
        <p:nvSpPr>
          <p:cNvPr id="278" name="Google Shape;278;h5bb930e929dd4d0d_0_2"/>
          <p:cNvSpPr txBox="1"/>
          <p:nvPr>
            <p:ph type="title"/>
          </p:nvPr>
        </p:nvSpPr>
        <p:spPr>
          <a:xfrm>
            <a:off x="604275" y="706240"/>
            <a:ext cx="57099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ct val="100000"/>
              <a:buFont typeface="Space Grotesk"/>
              <a:buNone/>
            </a:pP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Workshop Materials</a:t>
            </a:r>
            <a:endParaRPr sz="2700">
              <a:solidFill>
                <a:srgbClr val="162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"/>
          <p:cNvSpPr txBox="1"/>
          <p:nvPr>
            <p:ph idx="1" type="subTitle"/>
          </p:nvPr>
        </p:nvSpPr>
        <p:spPr>
          <a:xfrm>
            <a:off x="264900" y="1322505"/>
            <a:ext cx="8520600" cy="1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808">
                <a:solidFill>
                  <a:srgbClr val="0C0C0C"/>
                </a:solidFill>
                <a:highlight>
                  <a:srgbClr val="F5F3EF"/>
                </a:highlight>
                <a:latin typeface="Open Sans"/>
                <a:ea typeface="Open Sans"/>
                <a:cs typeface="Open Sans"/>
                <a:sym typeface="Open Sans"/>
              </a:rPr>
              <a:t>Thank You!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4" name="Google Shape;284;p3" title="visual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2462" y="2799574"/>
            <a:ext cx="2845476" cy="237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"/>
          <p:cNvSpPr txBox="1"/>
          <p:nvPr>
            <p:ph idx="1" type="subTitle"/>
          </p:nvPr>
        </p:nvSpPr>
        <p:spPr>
          <a:xfrm>
            <a:off x="264900" y="2279550"/>
            <a:ext cx="85206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lana@geolab.edu.ge</a:t>
            </a:r>
            <a:r>
              <a:rPr lang="en">
                <a:solidFill>
                  <a:srgbClr val="1155CC"/>
                </a:solidFill>
              </a:rPr>
              <a:t> </a:t>
            </a: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